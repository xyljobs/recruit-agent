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1a1b9d5b4c774199" Type="http://schemas.openxmlformats.org/package/2006/relationships/metadata/core-properties" Target="docProps/core.xml"/><Relationship Id="R1dddb00f63d64688" Type="http://schemas.openxmlformats.org/officeDocument/2006/relationships/extended-properties" Target="docProps/app.xml"/><Relationship Id="R3ca7f9935aa84b95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ea8febdb8b4a85"/>
  </p:sldMasterIdLst>
  <p:notesMasterIdLst>
    <p:notesMasterId xmlns:r="http://schemas.openxmlformats.org/officeDocument/2006/relationships" r:id="R59664e9993844006"/>
  </p:notesMasterIdLst>
  <p:sldIdLst>
    <p:sldId xmlns:r="http://schemas.openxmlformats.org/officeDocument/2006/relationships" id="256" r:id="Raab387011bdb4f43"/>
    <p:sldId xmlns:r="http://schemas.openxmlformats.org/officeDocument/2006/relationships" id="257" r:id="Rfdca46a0e0b34f8b"/>
    <p:sldId xmlns:r="http://schemas.openxmlformats.org/officeDocument/2006/relationships" id="258" r:id="Rd44935f6eb604b12"/>
    <p:sldId xmlns:r="http://schemas.openxmlformats.org/officeDocument/2006/relationships" id="259" r:id="R7d4c3025d2894704"/>
    <p:sldId xmlns:r="http://schemas.openxmlformats.org/officeDocument/2006/relationships" id="260" r:id="Ra7a5606478434966"/>
    <p:sldId xmlns:r="http://schemas.openxmlformats.org/officeDocument/2006/relationships" id="261" r:id="R861b998e460f40ca"/>
    <p:sldId xmlns:r="http://schemas.openxmlformats.org/officeDocument/2006/relationships" id="262" r:id="R2a9a8a81125d416d"/>
    <p:sldId xmlns:r="http://schemas.openxmlformats.org/officeDocument/2006/relationships" id="263" r:id="Rd8ba048048a347dd"/>
    <p:sldId xmlns:r="http://schemas.openxmlformats.org/officeDocument/2006/relationships" id="264" r:id="R993c6925fed748e8"/>
    <p:sldId xmlns:r="http://schemas.openxmlformats.org/officeDocument/2006/relationships" id="265" r:id="Rb8a5e31ec9a34c8c"/>
    <p:sldId xmlns:r="http://schemas.openxmlformats.org/officeDocument/2006/relationships" id="266" r:id="R6a16362d967c4665"/>
    <p:sldId xmlns:r="http://schemas.openxmlformats.org/officeDocument/2006/relationships" id="267" r:id="Reacf6f9b508146b6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<?xml version='1.0' encoding='UTF-8' standalone='yes'?>
<Relationships xmlns="http://schemas.openxmlformats.org/package/2006/relationships"><Relationship Id="R2a9a8a81125d416d" Type="http://schemas.openxmlformats.org/officeDocument/2006/relationships/slide" Target="slides/slide7.xml"/><Relationship Id="R59664e9993844006" Type="http://schemas.openxmlformats.org/officeDocument/2006/relationships/notesMaster" Target="notesMasters/notesMaster1.xml"/><Relationship Id="R64a3ea54e0d74fd7" Type="http://schemas.openxmlformats.org/officeDocument/2006/relationships/tableStyles" Target="tableStyles.xml"/><Relationship Id="R6a16362d967c4665" Type="http://schemas.openxmlformats.org/officeDocument/2006/relationships/slide" Target="slides/slide11.xml"/><Relationship Id="R7d4c3025d2894704" Type="http://schemas.openxmlformats.org/officeDocument/2006/relationships/slide" Target="slides/slide4.xml"/><Relationship Id="R7fcf71c91ee34985" Type="http://schemas.openxmlformats.org/officeDocument/2006/relationships/viewProps" Target="viewProps.xml"/><Relationship Id="R861b998e460f40ca" Type="http://schemas.openxmlformats.org/officeDocument/2006/relationships/slide" Target="slides/slide6.xml"/><Relationship Id="R8726416a1aeb43b2" Type="http://schemas.openxmlformats.org/officeDocument/2006/relationships/presProps" Target="presProps.xml"/><Relationship Id="R993c6925fed748e8" Type="http://schemas.openxmlformats.org/officeDocument/2006/relationships/slide" Target="slides/slide9.xml"/><Relationship Id="R99ea8febdb8b4a85" Type="http://schemas.openxmlformats.org/officeDocument/2006/relationships/slideMaster" Target="slideMasters/slideMaster1.xml"/><Relationship Id="Ra7a5606478434966" Type="http://schemas.openxmlformats.org/officeDocument/2006/relationships/slide" Target="slides/slide5.xml"/><Relationship Id="Raab387011bdb4f43" Type="http://schemas.openxmlformats.org/officeDocument/2006/relationships/slide" Target="slides/slide1.xml"/><Relationship Id="Rb8a5e31ec9a34c8c" Type="http://schemas.openxmlformats.org/officeDocument/2006/relationships/slide" Target="slides/slide10.xml"/><Relationship Id="Rd44935f6eb604b12" Type="http://schemas.openxmlformats.org/officeDocument/2006/relationships/slide" Target="slides/slide3.xml"/><Relationship Id="Rd8ba048048a347dd" Type="http://schemas.openxmlformats.org/officeDocument/2006/relationships/slide" Target="slides/slide8.xml"/><Relationship Id="Reacf6f9b508146b6" Type="http://schemas.openxmlformats.org/officeDocument/2006/relationships/slide" Target="slides/slide12.xml"/><Relationship Id="Rebfe75ad666a4dee" Type="http://schemas.openxmlformats.org/officeDocument/2006/relationships/theme" Target="theme/theme1.xml"/><Relationship Id="Rfdca46a0e0b34f8b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1fc6702d779d4880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1b0cea680ad14926" Type="http://schemas.openxmlformats.org/officeDocument/2006/relationships/notesMaster" Target="../notesMasters/notesMaster1.xml"/><Relationship Id="Re5d03e3ae0dc49cc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8cd659dfaa6e4aa9" Type="http://schemas.openxmlformats.org/officeDocument/2006/relationships/slide" Target="../slides/slide2.xml"/><Relationship Id="Rd8d7fe8fcde0487b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54cbc186c9fc4622" Type="http://schemas.openxmlformats.org/officeDocument/2006/relationships/slide" Target="../slides/slide3.xml"/><Relationship Id="R830cf24666fd4cb8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184cfc08f87f4584" Type="http://schemas.openxmlformats.org/officeDocument/2006/relationships/notesMaster" Target="../notesMasters/notesMaster1.xml"/><Relationship Id="Rbbfea5c10ae04921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388b6bd421914a93" Type="http://schemas.openxmlformats.org/officeDocument/2006/relationships/slide" Target="../slides/slide5.xml"/><Relationship Id="R57684fba11b04bef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21184859e859423f" Type="http://schemas.openxmlformats.org/officeDocument/2006/relationships/slide" Target="../slides/slide6.xml"/><Relationship Id="R4685aee29b8a4f38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504fe00d5f6e4a65" Type="http://schemas.openxmlformats.org/officeDocument/2006/relationships/notesMaster" Target="../notesMasters/notesMaster1.xml"/><Relationship Id="Raf9d9c91c45c4440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5ed57863b84e4e64" Type="http://schemas.openxmlformats.org/officeDocument/2006/relationships/notesMaster" Target="../notesMasters/notesMaster1.xml"/><Relationship Id="Rb154e9634c1a46c8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311f22ae75cb4cf9" Type="http://schemas.openxmlformats.org/officeDocument/2006/relationships/notesMaster" Target="../notesMasters/notesMaster1.xml"/><Relationship Id="Rd279b978e6af4e5a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45a425f9cc2b48a6" Type="http://schemas.openxmlformats.org/officeDocument/2006/relationships/slide" Target="../slides/slide10.xml"/><Relationship Id="R749afed8d2d149be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6d8a81a2bb784f5e" Type="http://schemas.openxmlformats.org/officeDocument/2006/relationships/slide" Target="../slides/slide11.xml"/><Relationship Id="Re2477ada0f4147e6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7f1ca7cf125d42df" Type="http://schemas.openxmlformats.org/officeDocument/2006/relationships/notesMaster" Target="../notesMasters/notesMaster1.xml"/><Relationship Id="Rdb26532006e04dd8" Type="http://schemas.openxmlformats.org/officeDocument/2006/relationships/slide" Target="../slides/slide1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开场：这是招聘决策副驾驶，不是自动录用系统。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强调参赛定位与证据边界：制造业是目标场景，当前量化结果仍是 IT 单岗位基线。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本页不展示未经验证的耗时、准确率、成本或回复率数字。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强调人工决定节点：排序、证据、沟通准备和结果复盘组成受控闭环。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当前实现是业务状态机驱动的受控工作流，不声称开放式多 Agent。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参赛数据只来自 seed、授权简历、CSV/JSON 或正式 ATS。Source: https://github.com/xyljobs/recruit-agent/blob/main/docs/第三方依赖与发布边界.md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演示 rules_only 默认状态，以及租户审批撤销后的自动降级。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本页是产品技术边界，不是法律意见。Source: https://github.com/xyljobs/recruit-agent/blob/main/docs/数据合规与隐私白皮书.md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0.706、2/4、4/4 均来自 Java 单岗位离线基线。Source: https://github.com/xyljobs/recruit-agent/blob/main/docs/评测报告_2026-08.md</a:t>
            </a:r>
            <a:endParaRPr/>
          </a:p>
          <a:p xmlns:a="http://schemas.openxmlformats.org/drawingml/2006/main">
            <a:r>
              <a:t>Benchmark: https://github.com/xyljobs/recruit-agent/blob/main/scripts/match-benchmark.java-real.json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强调开源交付不等于所有第三方许可证已经自动满足，Release 前仍要过 SBOM 与许可证门禁。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制造业效果必须等待真实授权样本和双标注评测；Demo 视频当前待录制。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收束：人工负责、执行受控、证据可复现。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f5c97b0b89c420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0b64669bad9a4bcf" Type="http://schemas.openxmlformats.org/officeDocument/2006/relationships/theme" Target="theme/theme2.xml"/><Relationship Id="R24b591db4b01474b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b591db4b01474b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07766e253cc04461" Type="http://schemas.openxmlformats.org/officeDocument/2006/relationships/notesSlide" Target="../notesSlides/notesSlide1.xml"/><Relationship Id="R3e26dca72e054abd" Type="http://schemas.openxmlformats.org/officeDocument/2006/relationships/slideLayout" Target="../slideLayouts/slideLayout1.xml"/><Relationship Id="R40b3a850073f4116" Type="http://schemas.openxmlformats.org/officeDocument/2006/relationships/image" Target="../media/image.png"/></Relationships>
</file>

<file path=ppt/slides/_rels/slide2.xml.rels><?xml version='1.0' encoding='UTF-8' standalone='yes'?>
<Relationships xmlns="http://schemas.openxmlformats.org/package/2006/relationships"><Relationship Id="R4dc6abf162374c83" Type="http://schemas.openxmlformats.org/officeDocument/2006/relationships/notesSlide" Target="../notesSlides/notesSlide2.xml"/><Relationship Id="R4f091a90fafc493b" Type="http://schemas.openxmlformats.org/officeDocument/2006/relationships/slideLayout" Target="../slideLayouts/slideLayout1.xml"/><Relationship Id="R89381edf85794b41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31eb74da59984640" Type="http://schemas.openxmlformats.org/officeDocument/2006/relationships/image" Target="../media/image2.png"/><Relationship Id="R5193e755e3c94ca3" Type="http://schemas.openxmlformats.org/officeDocument/2006/relationships/image" Target="../media/image3.png"/><Relationship Id="R558d1bb401854733" Type="http://schemas.openxmlformats.org/officeDocument/2006/relationships/slideLayout" Target="../slideLayouts/slideLayout1.xml"/><Relationship Id="R7c75cc67a5ec47b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1aa51dd6d85a4124" Type="http://schemas.openxmlformats.org/officeDocument/2006/relationships/notesSlide" Target="../notesSlides/notesSlide4.xml"/><Relationship Id="R8f97dd3f54214a62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2ebbc7997a1c4a6d" Type="http://schemas.openxmlformats.org/officeDocument/2006/relationships/image" Target="../media/image9.png"/><Relationship Id="R3846ff6c06bf461b" Type="http://schemas.openxmlformats.org/officeDocument/2006/relationships/image" Target="../media/image4.png"/><Relationship Id="R4290bebb0a7e4bb0" Type="http://schemas.openxmlformats.org/officeDocument/2006/relationships/image" Target="../media/image5.png"/><Relationship Id="R770da60f268d463c" Type="http://schemas.openxmlformats.org/officeDocument/2006/relationships/notesSlide" Target="../notesSlides/notesSlide5.xml"/><Relationship Id="R7d252a353dad49bc" Type="http://schemas.openxmlformats.org/officeDocument/2006/relationships/image" Target="../media/image6.png"/><Relationship Id="Ra8f8d3710ceb4246" Type="http://schemas.openxmlformats.org/officeDocument/2006/relationships/image" Target="../media/image7.png"/><Relationship Id="Rb9429a7692eb4962" Type="http://schemas.openxmlformats.org/officeDocument/2006/relationships/slideLayout" Target="../slideLayouts/slideLayout1.xml"/><Relationship Id="Rbf4cc593bb8e49ff" Type="http://schemas.openxmlformats.org/officeDocument/2006/relationships/image" Target="../media/image8.png"/></Relationships>
</file>

<file path=ppt/slides/_rels/slide6.xml.rels><?xml version='1.0' encoding='UTF-8' standalone='yes'?>
<Relationships xmlns="http://schemas.openxmlformats.org/package/2006/relationships"><Relationship Id="R82b6540d98cc4276" Type="http://schemas.openxmlformats.org/officeDocument/2006/relationships/image" Target="../media/image10.png"/><Relationship Id="R85fc8588c03b41f5" Type="http://schemas.openxmlformats.org/officeDocument/2006/relationships/image" Target="../media/image11.png"/><Relationship Id="Rdffed4e4039148a2" Type="http://schemas.openxmlformats.org/officeDocument/2006/relationships/notesSlide" Target="../notesSlides/notesSlide6.xml"/><Relationship Id="Rebbab701bc204963" Type="http://schemas.openxmlformats.org/officeDocument/2006/relationships/slideLayout" Target="../slideLayouts/slideLayout1.xml"/><Relationship Id="Ref33d3e4c66a458a" Type="http://schemas.openxmlformats.org/officeDocument/2006/relationships/image" Target="../media/image12.png"/></Relationships>
</file>

<file path=ppt/slides/_rels/slide7.xml.rels><?xml version='1.0' encoding='UTF-8' standalone='yes'?>
<Relationships xmlns="http://schemas.openxmlformats.org/package/2006/relationships"><Relationship Id="R56345155ce614025" Type="http://schemas.openxmlformats.org/officeDocument/2006/relationships/slideLayout" Target="../slideLayouts/slideLayout1.xml"/><Relationship Id="R5f42ff65f19b413e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02da6c568fa846c9" Type="http://schemas.openxmlformats.org/officeDocument/2006/relationships/image" Target="../media/image11.png"/><Relationship Id="R08c987d3d48f469b" Type="http://schemas.openxmlformats.org/officeDocument/2006/relationships/image" Target="../media/image13.png"/><Relationship Id="R0a54f7fbe21f47da" Type="http://schemas.openxmlformats.org/officeDocument/2006/relationships/notesSlide" Target="../notesSlides/notesSlide8.xml"/><Relationship Id="Rba3b6b4ab2614518" Type="http://schemas.openxmlformats.org/officeDocument/2006/relationships/slideLayout" Target="../slideLayouts/slideLayout1.xml"/><Relationship Id="Rdfbeaaf6ae1f4fd0" Type="http://schemas.openxmlformats.org/officeDocument/2006/relationships/image" Target="../media/image14.png"/><Relationship Id="Red8f22bfb72140fa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2d7bed5eae5b4ccd" Type="http://schemas.openxmlformats.org/officeDocument/2006/relationships/notesSlide" Target="../notesSlides/notesSlide9.xml"/><Relationship Id="R37b3cd7f58c84f98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3da06e6cea954c8a" Type="http://schemas.openxmlformats.org/officeDocument/2006/relationships/slideLayout" Target="../slideLayouts/slideLayout1.xml"/><Relationship Id="R9e1b5c1413ca433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76f8fe2a597a4fdf" Type="http://schemas.openxmlformats.org/officeDocument/2006/relationships/slideLayout" Target="../slideLayouts/slideLayout1.xml"/><Relationship Id="Rd2d2352ee67547b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4c374b92a2c348e1" Type="http://schemas.openxmlformats.org/officeDocument/2006/relationships/notesSlide" Target="../notesSlides/notesSlide12.xml"/><Relationship Id="R9f9fa326f360457f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2BBBED5-7222-4CE5-8E04-69E45F0E6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4048"/>
            <a:ext cx="64008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GOAI 无界应用 | Boundless Agents · 初赛方案 · 2026-08</a:t>
            </a:r>
            <a:endParaRPr sz="11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41818D7-A00A-495F-9489-EEF022716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051560"/>
            <a:ext cx="676656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5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人才决策Agent</a:t>
            </a:r>
            <a:endParaRPr sz="5000"/>
          </a:p>
        </p:txBody>
      </p:sp>
      <p:sp>
        <p:nvSpPr>
          <p:cNvPr id="4" name="Text 2">
            <a:extLst xmlns:a="http://schemas.openxmlformats.org/drawingml/2006/main">
              <a:ext uri="{FF2B5EF4-FFF2-40B4-BE49-F238E27FC236}">
                <a16:creationId xmlns:a16="http://schemas.microsoft.com/office/drawing/2014/main" id="{F616EF95-1D85-482B-A0C9-84CB24EFB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38528"/>
            <a:ext cx="694944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90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面向工业制造招聘的私有部署决策副驾驶</a:t>
            </a:r>
            <a:endParaRPr sz="1900"/>
          </a:p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CE67821-873D-4687-A688-963EFD7D9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50592"/>
            <a:ext cx="694944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i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AI 负责证据与排序，人类保留决策权。</a:t>
            </a:r>
            <a:endParaRPr sz="135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9E278551-AA9E-4CC5-96D3-89758BADB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1143000"/>
            <a:ext cx="1051560" cy="105156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7F00"/>
          </a:solidFill>
        </p:spPr>
      </p:sp>
      <p:pic>
        <p:nvPicPr>
          <p:cNvPr id="22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b3a850073f411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25766" y="1416406"/>
            <a:ext cx="504749" cy="504749"/>
          </a:xfrm>
          <a:prstGeom xmlns:a="http://schemas.openxmlformats.org/drawingml/2006/main" prst="rect">
            <a:avLst/>
          </a:prstGeom>
        </p:spPr>
      </p:pic>
      <p:sp>
        <p:nvSpPr>
          <p:cNvPr id="8" name="Shape 5">
            <a:extLst xmlns:a="http://schemas.openxmlformats.org/drawingml/2006/main">
              <a:ext uri="{FF2B5EF4-FFF2-40B4-BE49-F238E27FC236}">
                <a16:creationId xmlns:a16="http://schemas.microsoft.com/office/drawing/2014/main" id="{AA68BE30-FCF9-4DA2-942A-AA97AB7D6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1243584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3057"/>
          </a:solidFill>
        </p:spPr>
      </p:sp>
      <p:sp>
        <p:nvSpPr>
          <p:cNvPr id="9" name="Text 6">
            <a:extLst xmlns:a="http://schemas.openxmlformats.org/drawingml/2006/main">
              <a:ext uri="{FF2B5EF4-FFF2-40B4-BE49-F238E27FC236}">
                <a16:creationId xmlns:a16="http://schemas.microsoft.com/office/drawing/2014/main" id="{ECA6BD3E-3961-40B3-A100-45CCDFE60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12435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可运行</a:t>
            </a:r>
            <a:endParaRPr sz="1300"/>
          </a:p>
        </p:txBody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26176023-31BC-431D-9EB1-A0BD38088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4160520"/>
            <a:ext cx="1243584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3057"/>
          </a:solidFill>
        </p:spPr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BDC0A256-6D33-4091-8CA8-4ECCB83B9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088" y="4160520"/>
            <a:ext cx="12435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可演示</a:t>
            </a:r>
            <a:endParaRPr sz="1300"/>
          </a:p>
        </p:txBody>
      </p:sp>
      <p:sp>
        <p:nvSpPr>
          <p:cNvPr id="12" name="Shape 9">
            <a:extLst xmlns:a="http://schemas.openxmlformats.org/drawingml/2006/main">
              <a:ext uri="{FF2B5EF4-FFF2-40B4-BE49-F238E27FC236}">
                <a16:creationId xmlns:a16="http://schemas.microsoft.com/office/drawing/2014/main" id="{4AA371A7-E7A0-4130-9C33-C4F43566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976" y="4160520"/>
            <a:ext cx="1243584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3057"/>
          </a:solidFill>
        </p:spPr>
      </p:sp>
      <p:sp>
        <p:nvSpPr>
          <p:cNvPr id="13" name="Text 10">
            <a:extLst xmlns:a="http://schemas.openxmlformats.org/drawingml/2006/main">
              <a:ext uri="{FF2B5EF4-FFF2-40B4-BE49-F238E27FC236}">
                <a16:creationId xmlns:a16="http://schemas.microsoft.com/office/drawing/2014/main" id="{4D4C0491-5AE6-4CC0-841B-1D26245B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6976" y="4160520"/>
            <a:ext cx="12435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可复制</a:t>
            </a:r>
            <a:endParaRPr sz="1300"/>
          </a:p>
        </p:txBody>
      </p:sp>
      <p:sp>
        <p:nvSpPr>
          <p:cNvPr id="14" name="Shape 11">
            <a:extLst xmlns:a="http://schemas.openxmlformats.org/drawingml/2006/main">
              <a:ext uri="{FF2B5EF4-FFF2-40B4-BE49-F238E27FC236}">
                <a16:creationId xmlns:a16="http://schemas.microsoft.com/office/drawing/2014/main" id="{4D0023B2-4395-4F9F-ACD5-24834E087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4160520"/>
            <a:ext cx="1243584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F3057"/>
          </a:solidFill>
        </p:spPr>
      </p:sp>
      <p:sp>
        <p:nvSpPr>
          <p:cNvPr id="15" name="Text 12">
            <a:extLst xmlns:a="http://schemas.openxmlformats.org/drawingml/2006/main">
              <a:ext uri="{FF2B5EF4-FFF2-40B4-BE49-F238E27FC236}">
                <a16:creationId xmlns:a16="http://schemas.microsoft.com/office/drawing/2014/main" id="{11BDD18F-4A33-4CAE-8A95-9E508C7E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4160520"/>
            <a:ext cx="1243584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可追溯</a:t>
            </a:r>
            <a:endParaRPr sz="1300"/>
          </a:p>
        </p:txBody>
      </p:sp>
    </p:spTree>
    <p:extLst>
      <p:ext uri="{BB962C8B-B14F-4D97-AF65-F5344CB8AC3E}">
        <p14:creationId xmlns:p14="http://schemas.microsoft.com/office/powerpoint/2010/main" val="25799988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0BCE593-F715-4960-9BB4-6982BF0F9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赛道对齐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6351681-394A-469E-84F0-B9ECB39E8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所选赛题与一句话定位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BA5B4EC-60B0-40D6-8EF8-30688846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502920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8AB4316-F0F8-4D2B-A658-50E583AD2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371600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2"/>
          </a:solidFill>
        </p:spPr>
      </p:sp>
      <p:pic>
        <p:nvPicPr>
          <p:cNvPr id="18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381edf85794b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43991" y="1502359"/>
            <a:ext cx="241402" cy="241402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4FC3E5F-74FC-40BF-AC9A-1F5217BA0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389888"/>
            <a:ext cx="393192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AI+工业制造 · 人才供应链细分场景</a:t>
            </a:r>
            <a:endParaRPr sz="16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20CA34D-340E-420F-B224-A227BF6AD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57400"/>
            <a:ext cx="4526280" cy="2103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可私有部署的招聘决策副驾驶：把“职位标准 → 授权简历 → 证据排序 → 人工短名单 → 沟通准备 → 结果复盘”做成完整闭环。</a:t>
            </a:r>
            <a:endParaRPr sz="125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目标用户：工业制造招聘团队，以及对数据出境与候选人隐私有强要求的组织。</a:t>
            </a:r>
            <a:endParaRPr sz="125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2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当前是单一受控编排工作流：状态机定步骤，模型与工具受网关约束，HR 保留最终权力。</a:t>
            </a:r>
            <a:endParaRPr sz="12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17CBE63F-0428-467F-AB36-9480D4AD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1143000"/>
            <a:ext cx="3017520" cy="320040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14213D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0" name="Text 7">
            <a:extLst xmlns:a="http://schemas.openxmlformats.org/drawingml/2006/main">
              <a:ext uri="{FF2B5EF4-FFF2-40B4-BE49-F238E27FC236}">
                <a16:creationId xmlns:a16="http://schemas.microsoft.com/office/drawing/2014/main" id="{3B7EAE6C-2466-4385-8FDE-BDA449293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371600"/>
            <a:ext cx="25603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为什么是工业制造</a:t>
            </a:r>
            <a:endParaRPr sz="1500"/>
          </a:p>
        </p:txBody>
      </p:sp>
      <p:sp>
        <p:nvSpPr>
          <p:cNvPr id="11" name="Text 8">
            <a:extLst xmlns:a="http://schemas.openxmlformats.org/drawingml/2006/main">
              <a:ext uri="{FF2B5EF4-FFF2-40B4-BE49-F238E27FC236}">
                <a16:creationId xmlns:a16="http://schemas.microsoft.com/office/drawing/2014/main" id="{100FA28F-FF03-4423-BABC-1BE8E6F9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1828800"/>
            <a:ext cx="26060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15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PLC / 电气自动化 / 工业机器人岗位的技能证据专业</a:t>
            </a:r>
            <a:endParaRPr sz="115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15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招聘需同时兼顾技能证据、硬性条件与数据合规</a:t>
            </a:r>
            <a:endParaRPr sz="115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15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知识库和岗位卡可替换，但行业效果必须单独评测</a:t>
            </a:r>
            <a:endParaRPr sz="1150"/>
          </a:p>
          <a:p xmlns:a="http://schemas.openxmlformats.org/drawingml/2006/main">
            <a:r>
              <a:rPr sz="1150">
                <a:latin typeface="Microsoft YaHei"/>
              </a:rPr>
              <a:t>与赛题“工单调度·按人员技能分派”同构，属人才供应链上游</a:t>
            </a:r>
          </a:p>
        </p:txBody>
      </p:sp>
      <p:sp>
        <p:nvSpPr>
          <p:cNvPr id="12" name="Text 9">
            <a:extLst xmlns:a="http://schemas.openxmlformats.org/drawingml/2006/main">
              <a:ext uri="{FF2B5EF4-FFF2-40B4-BE49-F238E27FC236}">
                <a16:creationId xmlns:a16="http://schemas.microsoft.com/office/drawing/2014/main" id="{31F48DAA-2D49-4D59-98DE-0F2B1058D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82296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参赛聚焦制造业招聘；量化证据含 IT 单岗位基线与制造业 58 份真实简历评测（一致率 34.5%、κ=0.280），定位“提供证据、人工决策”。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47749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476CF51-7138-4CC9-9644-FC3AB9B10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场景来源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EFB7FBB5-43D5-421E-8609-1976C9F1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待验证的问题：证据分散、复核成本高、责任难留痕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8BB4D0F1-FE8D-4AF6-8F06-3EF67EF2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265176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5E1B59B0-021F-4D03-B8FC-3BCC69D5F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53312"/>
            <a:ext cx="2651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证据分散</a:t>
            </a:r>
            <a:endParaRPr sz="34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AF309B3-702D-41B1-A1CE-90F26010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084832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技能、项目与设备型号散落简历</a:t>
            </a:r>
            <a:endParaRPr sz="1150"/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0BDADC7-22F8-4E64-8B29-33BC5EC1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188720"/>
            <a:ext cx="265176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13F4AFF-CA12-45C2-B9A7-5DD4B767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53312"/>
            <a:ext cx="2651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规则盲区</a:t>
            </a:r>
            <a:endParaRPr sz="340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34F1543D-263F-4040-BE53-59245D828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084832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同义技能与缺失信息难被关键词覆盖</a:t>
            </a:r>
            <a:endParaRPr sz="115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94AC501-5666-48F7-A7A7-B16EEA19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88720"/>
            <a:ext cx="2651760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A2814D9-4BA9-4DAE-861D-22A194D19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53312"/>
            <a:ext cx="265176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40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责任风险</a:t>
            </a:r>
            <a:endParaRPr sz="3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C98631A9-2199-42A5-9503-C97F4EEE4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084832"/>
            <a:ext cx="22860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自动决策不可接受，人工理由要留痕</a:t>
            </a:r>
            <a:endParaRPr sz="11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0B37ACB5-277A-4B46-959C-BE4A52089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406908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D06610EE-7F02-4887-B0B5-5734541D6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211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2"/>
          </a:solidFill>
        </p:spPr>
      </p:sp>
      <p:pic>
        <p:nvPicPr>
          <p:cNvPr id="39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eb74da5998464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330098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16" name="Text 13">
            <a:extLst xmlns:a="http://schemas.openxmlformats.org/drawingml/2006/main">
              <a:ext uri="{FF2B5EF4-FFF2-40B4-BE49-F238E27FC236}">
                <a16:creationId xmlns:a16="http://schemas.microsoft.com/office/drawing/2014/main" id="{A3F1B959-31E5-44AD-8DC0-EA5E1443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3200400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制造业专业门槛</a:t>
            </a:r>
            <a:endParaRPr sz="1400"/>
          </a:p>
        </p:txBody>
      </p:sp>
      <p:sp>
        <p:nvSpPr>
          <p:cNvPr id="17" name="Text 14">
            <a:extLst xmlns:a="http://schemas.openxmlformats.org/drawingml/2006/main">
              <a:ext uri="{FF2B5EF4-FFF2-40B4-BE49-F238E27FC236}">
                <a16:creationId xmlns:a16="http://schemas.microsoft.com/office/drawing/2014/main" id="{6C789F62-B64B-43E4-B57D-E4EC3FC2E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5888"/>
            <a:ext cx="36576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PLC、机器人、设备维护岗位需要 HR 与业务专家共同复核证据。</a:t>
            </a:r>
            <a:endParaRPr sz="1150"/>
          </a:p>
        </p:txBody>
      </p:sp>
      <p:sp>
        <p:nvSpPr>
          <p:cNvPr id="18" name="Shape 15">
            <a:extLst xmlns:a="http://schemas.openxmlformats.org/drawingml/2006/main">
              <a:ext uri="{FF2B5EF4-FFF2-40B4-BE49-F238E27FC236}">
                <a16:creationId xmlns:a16="http://schemas.microsoft.com/office/drawing/2014/main" id="{B590DAA2-63DF-42E8-ADF0-D1DA688B3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971800"/>
            <a:ext cx="4023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9" name="Shape 16">
            <a:extLst xmlns:a="http://schemas.openxmlformats.org/drawingml/2006/main">
              <a:ext uri="{FF2B5EF4-FFF2-40B4-BE49-F238E27FC236}">
                <a16:creationId xmlns:a16="http://schemas.microsoft.com/office/drawing/2014/main" id="{564DBE6D-6A05-4BDE-9E99-15477366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182112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2"/>
          </a:solidFill>
        </p:spPr>
      </p:sp>
      <p:pic>
        <p:nvPicPr>
          <p:cNvPr id="44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93e755e3c94c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912" y="3300984"/>
            <a:ext cx="219456" cy="219456"/>
          </a:xfrm>
          <a:prstGeom xmlns:a="http://schemas.openxmlformats.org/drawingml/2006/main" prst="rect">
            <a:avLst/>
          </a:prstGeom>
        </p:spPr>
      </p:pic>
      <p:sp>
        <p:nvSpPr>
          <p:cNvPr id="21" name="Text 17">
            <a:extLst xmlns:a="http://schemas.openxmlformats.org/drawingml/2006/main">
              <a:ext uri="{FF2B5EF4-FFF2-40B4-BE49-F238E27FC236}">
                <a16:creationId xmlns:a16="http://schemas.microsoft.com/office/drawing/2014/main" id="{A1B800F7-3BD3-419B-B77E-334235794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200400"/>
            <a:ext cx="30175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数据合规约束</a:t>
            </a:r>
            <a:endParaRPr sz="1400"/>
          </a:p>
        </p:txBody>
      </p:sp>
      <p:sp>
        <p:nvSpPr>
          <p:cNvPr id="22" name="Text 18">
            <a:extLst xmlns:a="http://schemas.openxmlformats.org/drawingml/2006/main">
              <a:ext uri="{FF2B5EF4-FFF2-40B4-BE49-F238E27FC236}">
                <a16:creationId xmlns:a16="http://schemas.microsoft.com/office/drawing/2014/main" id="{661905DD-76DF-46B7-8659-1C3F0E4CE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675888"/>
            <a:ext cx="36118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候选人数据需要授权、最小必要、可撤回与可审计；模型不可默认外发。</a:t>
            </a:r>
            <a:endParaRPr sz="1150"/>
          </a:p>
        </p:txBody>
      </p:sp>
      <p:sp>
        <p:nvSpPr>
          <p:cNvPr id="23" name="Text 19">
            <a:extLst xmlns:a="http://schemas.openxmlformats.org/drawingml/2006/main">
              <a:ext uri="{FF2B5EF4-FFF2-40B4-BE49-F238E27FC236}">
                <a16:creationId xmlns:a16="http://schemas.microsoft.com/office/drawing/2014/main" id="{9A0F9831-CD4D-43C8-9823-3F0A6F0F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以上为待验证的问题假设，不是已实现业务提升；制造业三岗位评测已完成（一致率 34.5%、κ=0.280），定位“提供证据、人工决策”。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81815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5E625FA-C49A-4ECD-84E1-2C0119B55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核心流程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601604F2-5B19-4303-B702-C6E5979DB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受控任务闭环：从职位标准到结果复盘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15B2F70-38E7-446C-A0E8-B0664D20F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00200"/>
            <a:ext cx="1554480" cy="214884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02BCCB27-7768-4F26-8A45-B37381230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3258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7F0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93DE8DEA-CF63-4630-9BAA-CC913ED45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3258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DE4C1B7-AAB7-4076-A3CA-BE52C38AF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7452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职位标准</a:t>
            </a:r>
            <a:endParaRPr sz="13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CA74239E-6159-49D5-9AB3-E1A222967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2304288"/>
            <a:ext cx="1371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规则默认可用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获批后可用 LLM</a:t>
            </a:r>
            <a:endParaRPr sz="10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67E0B95E-2D18-40B5-9E28-9185B59C9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75104" y="2331720"/>
            <a:ext cx="2194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›</a:t>
            </a:r>
            <a:endParaRPr sz="2000"/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8A9D44D4-6288-48A5-BE9D-D26AE56D7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84" y="1600200"/>
            <a:ext cx="1554480" cy="214884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69EB0BF5-2B72-415C-866A-A9814679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13258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7F00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0397038-607A-4926-A538-A1F0B95D7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912" y="13258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50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C6F981AB-CD75-40BE-AD62-F82972690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984" y="187452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证据排序</a:t>
            </a:r>
            <a:endParaRPr sz="135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233E0561-1744-4504-BBDD-2A760DFEA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9424" y="2304288"/>
            <a:ext cx="1371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确定性预筛 + 可选深析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证据/缺失/置信度</a:t>
            </a:r>
            <a:endParaRPr sz="105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70703DDF-86B4-4DEF-B59A-5F2B87AC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5888" y="2331720"/>
            <a:ext cx="2194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›</a:t>
            </a:r>
            <a:endParaRPr sz="20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B63F1603-50E9-4D60-A82D-843AEBA91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1600200"/>
            <a:ext cx="1554480" cy="214884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77F00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1BFA07FA-A7C4-4998-8139-E8F1BC02D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13258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4213D"/>
          </a:solidFill>
        </p:spPr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6EC1D1F4-FC20-4D64-9885-9E3A33219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5696" y="13258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50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1C0DB5C-1823-4B2D-8CDE-30E35E75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8768" y="187452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短名单决策</a:t>
            </a:r>
            <a:endParaRPr sz="1350"/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B3C6E578-6ACA-43E0-AA76-9585612D5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0208" y="2304288"/>
            <a:ext cx="1371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HR 逐条接受/覆盖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理由留痕</a:t>
            </a:r>
            <a:endParaRPr sz="1050"/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42768F8-3103-4FD8-B1CE-44C4E6BDC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6672" y="2331720"/>
            <a:ext cx="2194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›</a:t>
            </a:r>
            <a:endParaRPr sz="2000"/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FB340F5C-E9E6-4744-87CE-817485C2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600200"/>
            <a:ext cx="1554480" cy="214884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FDA0D949-072C-493B-9D53-F0914799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258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7F00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CBC760B-BB5E-4D57-8B72-CE4EE680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258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  <a:endParaRPr sz="1500"/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6882D29B-52CF-4131-9F48-437196AF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9552" y="187452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沟通准备</a:t>
            </a:r>
            <a:endParaRPr sz="1350"/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29846B85-C207-4CAA-9AA0-89792ABB1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92" y="2304288"/>
            <a:ext cx="1371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本地知识库驱动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个性化 brief</a:t>
            </a:r>
            <a:endParaRPr sz="1050"/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057B05FD-FCD7-43F3-9BD7-E4246E13B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77456" y="2331720"/>
            <a:ext cx="219456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200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›</a:t>
            </a:r>
            <a:endParaRPr sz="2000"/>
          </a:p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4C493852-E4E5-46BC-9C84-9F677241A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600200"/>
            <a:ext cx="1554480" cy="214884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29" name="Shape 27">
            <a:extLst xmlns:a="http://schemas.openxmlformats.org/drawingml/2006/main">
              <a:ext uri="{FF2B5EF4-FFF2-40B4-BE49-F238E27FC236}">
                <a16:creationId xmlns:a16="http://schemas.microsoft.com/office/drawing/2014/main" id="{7ADBC5E8-8155-4F98-A2B5-404525C7C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1325880"/>
            <a:ext cx="420624" cy="42062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7F00"/>
          </a:solidFill>
        </p:spPr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5E48807E-0DB9-402A-B448-52CA45175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7264" y="1325880"/>
            <a:ext cx="42062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  <a:endParaRPr sz="1500"/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7CA6E351-5944-4267-AAB2-86895EDC9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0336" y="1874520"/>
            <a:ext cx="155448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结果复盘</a:t>
            </a:r>
            <a:endParaRPr sz="1350"/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6810FA85-3E9E-41AB-98E6-AB9BE1B2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1776" y="2304288"/>
            <a:ext cx="1371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真实事件回流</a:t>
            </a:r>
            <a:endParaRPr sz="1050"/>
          </a:p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校准评分权重</a:t>
            </a:r>
            <a:endParaRPr sz="1050"/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96FEAE0-D718-486E-A2EC-97B34195E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60520"/>
            <a:ext cx="8229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关键设计：AI 分数只参与排序，不产生决策——自动拒绝、发 Offer、录用均不存在；沟通 brief 仅在人工“已接受”后生成。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7734318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08B0E9-44FF-47CA-8331-2C62E51E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实现边界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DAECA93-3E4F-43EE-9913-01487709B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受控编排：领域工具 + 人工决策节点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CB53F684-FF16-48B1-9B63-626363A4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43000"/>
            <a:ext cx="5120640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761C317-DB30-42E9-BCBB-CE4D5E5B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298448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6"/>
          </a:solidFill>
        </p:spPr>
      </p:sp>
      <p:pic>
        <p:nvPicPr>
          <p:cNvPr id="44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46ff6c06bf46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096" y="1408176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08FDFD26-BA5D-4C48-B270-A133028C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234440"/>
            <a:ext cx="4114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职位标准工具</a:t>
            </a:r>
            <a:endParaRPr sz="13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39E4AB6E-760D-4413-A10E-D9B837AC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1545336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输入 JD → 需求卡片；规则默认可用，模型获批后才调用</a:t>
            </a:r>
            <a:endParaRPr sz="10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D1E3323-8349-4F68-9C65-8F80BE55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39112"/>
            <a:ext cx="5120640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065325F7-3ED1-477C-B114-9910272D8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194560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6"/>
          </a:solidFill>
        </p:spPr>
      </p:sp>
      <p:pic>
        <p:nvPicPr>
          <p:cNvPr id="49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0bebb0a7e4bb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096" y="2304288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EDD66967-DEE1-4F5C-908E-C6413066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130552"/>
            <a:ext cx="4114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匹配与证据工具</a:t>
            </a:r>
            <a:endParaRPr sz="13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F7583106-8616-4906-B67B-C6F46AD8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2441448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需求卡片 + 授权候选人 → 证据/缺失/置信度；只排序不决策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4A29105-8301-4D05-B203-3D9964D07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35224"/>
            <a:ext cx="5120640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B62AB371-1622-4B4D-9527-D4D9BFD27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09067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6"/>
          </a:solidFill>
        </p:spPr>
      </p:sp>
      <p:pic>
        <p:nvPicPr>
          <p:cNvPr id="54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252a353dad49b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096" y="320040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50E25809-D069-429A-A673-67974DF1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026664"/>
            <a:ext cx="4114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沟通准备工具</a:t>
            </a:r>
            <a:endParaRPr sz="13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B400730B-62AC-4D67-82BC-0BF0142D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337560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仅人工“已接受”后生成 brief；本地模板可用，内容仍需审核</a:t>
            </a:r>
            <a:endParaRPr sz="105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6AD82088-E377-4A90-A4C3-47BDDF464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31336"/>
            <a:ext cx="5120640" cy="786384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B1B02C08-B274-4CE2-B056-9EC80AEEF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986784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6"/>
          </a:solidFill>
        </p:spPr>
      </p:sp>
      <p:pic>
        <p:nvPicPr>
          <p:cNvPr id="59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f8d3710ceb42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096" y="4096512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F8A71F65-9432-4529-945E-D44A408DE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3922776"/>
            <a:ext cx="41148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异步任务工具</a:t>
            </a:r>
            <a:endParaRPr sz="13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A99B1E48-9211-400C-B06F-FE9502DF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8448" y="4233672"/>
            <a:ext cx="411480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批量匹配、简历批处理、ATS 写回；队列、租约、重试与白名单</a:t>
            </a:r>
            <a:endParaRPr sz="1050"/>
          </a:p>
        </p:txBody>
      </p:sp>
      <p:sp>
        <p:nvSpPr>
          <p:cNvPr id="24" name="Shape 18">
            <a:extLst xmlns:a="http://schemas.openxmlformats.org/drawingml/2006/main">
              <a:ext uri="{FF2B5EF4-FFF2-40B4-BE49-F238E27FC236}">
                <a16:creationId xmlns:a16="http://schemas.microsoft.com/office/drawing/2014/main" id="{01212B73-DF17-428A-BADF-63BD00703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143000"/>
            <a:ext cx="28803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F77F00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25" name="Shape 19">
            <a:extLst xmlns:a="http://schemas.openxmlformats.org/drawingml/2006/main">
              <a:ext uri="{FF2B5EF4-FFF2-40B4-BE49-F238E27FC236}">
                <a16:creationId xmlns:a16="http://schemas.microsoft.com/office/drawing/2014/main" id="{FB0EA524-E030-45B9-B1C3-C4B0825C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353312"/>
            <a:ext cx="475488" cy="47548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F3057"/>
          </a:solidFill>
        </p:spPr>
      </p:sp>
      <p:pic>
        <p:nvPicPr>
          <p:cNvPr id="64" name="Imag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4cc593bb8e49f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44768" y="1463040"/>
            <a:ext cx="256032" cy="256032"/>
          </a:xfrm>
          <a:prstGeom xmlns:a="http://schemas.openxmlformats.org/drawingml/2006/main" prst="rect">
            <a:avLst/>
          </a:prstGeom>
        </p:spPr>
      </p:pic>
      <p:sp>
        <p:nvSpPr>
          <p:cNvPr id="27" name="Text 20">
            <a:extLst xmlns:a="http://schemas.openxmlformats.org/drawingml/2006/main">
              <a:ext uri="{FF2B5EF4-FFF2-40B4-BE49-F238E27FC236}">
                <a16:creationId xmlns:a16="http://schemas.microsoft.com/office/drawing/2014/main" id="{58DDC9E4-BCE4-4FFE-994E-92DCC3ED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71600"/>
            <a:ext cx="192024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人类决策节点（HR）</a:t>
            </a:r>
            <a:endParaRPr sz="1350"/>
          </a:p>
        </p:txBody>
      </p:sp>
      <p:sp>
        <p:nvSpPr>
          <p:cNvPr id="28" name="Text 21">
            <a:extLst xmlns:a="http://schemas.openxmlformats.org/drawingml/2006/main">
              <a:ext uri="{FF2B5EF4-FFF2-40B4-BE49-F238E27FC236}">
                <a16:creationId xmlns:a16="http://schemas.microsoft.com/office/drawing/2014/main" id="{29384F68-4203-4D29-8337-D8D2A413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1938528"/>
            <a:ext cx="246888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接受 / 覆盖 / 补充理由，逐条留痕；仅“已接受”可进入沟通。</a:t>
            </a:r>
            <a:endParaRPr sz="1100"/>
          </a:p>
        </p:txBody>
      </p:sp>
      <p:sp>
        <p:nvSpPr>
          <p:cNvPr id="29" name="Shape 22">
            <a:extLst xmlns:a="http://schemas.openxmlformats.org/drawingml/2006/main">
              <a:ext uri="{FF2B5EF4-FFF2-40B4-BE49-F238E27FC236}">
                <a16:creationId xmlns:a16="http://schemas.microsoft.com/office/drawing/2014/main" id="{5E79233D-46C3-4D35-BF35-57FEE34BC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017520"/>
            <a:ext cx="2880360" cy="1691640"/>
          </a:xfrm>
          <a:prstGeom xmlns:a="http://schemas.openxmlformats.org/drawingml/2006/main" prst="roundRect">
            <a:avLst>
              <a:gd name="adj" fmla="val 4324"/>
            </a:avLst>
          </a:prstGeom>
          <a:solidFill xmlns:a="http://schemas.openxmlformats.org/drawingml/2006/main">
            <a:srgbClr val="14213D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pic>
        <p:nvPicPr>
          <p:cNvPr id="68" name="Imag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bbc7997a1c4a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53328" y="3218688"/>
            <a:ext cx="274320" cy="274320"/>
          </a:xfrm>
          <a:prstGeom xmlns:a="http://schemas.openxmlformats.org/drawingml/2006/main" prst="rect">
            <a:avLst/>
          </a:prstGeom>
        </p:spPr>
      </p:pic>
      <p:sp>
        <p:nvSpPr>
          <p:cNvPr id="31" name="Text 23">
            <a:extLst xmlns:a="http://schemas.openxmlformats.org/drawingml/2006/main">
              <a:ext uri="{FF2B5EF4-FFF2-40B4-BE49-F238E27FC236}">
                <a16:creationId xmlns:a16="http://schemas.microsoft.com/office/drawing/2014/main" id="{FDF320AE-AB53-4144-8CE3-2234441C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3200400"/>
            <a:ext cx="21031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执行边界网关</a:t>
            </a:r>
            <a:endParaRPr sz="1350"/>
          </a:p>
        </p:txBody>
      </p:sp>
      <p:sp>
        <p:nvSpPr>
          <p:cNvPr id="32" name="Text 24">
            <a:extLst xmlns:a="http://schemas.openxmlformats.org/drawingml/2006/main">
              <a:ext uri="{FF2B5EF4-FFF2-40B4-BE49-F238E27FC236}">
                <a16:creationId xmlns:a16="http://schemas.microsoft.com/office/drawing/2014/main" id="{77FB443D-7B5C-469F-AFC5-A420CBC35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675888"/>
            <a:ext cx="246888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rules_only / private_endpoint / approved_cloud 三档 + 去标识化 + 租户级双重审批。</a:t>
            </a:r>
            <a:endParaRPr sz="1100"/>
          </a:p>
        </p:txBody>
      </p:sp>
      <p:sp>
        <p:nvSpPr>
          <p:cNvPr id="33" name="Text 25">
            <a:extLst xmlns:a="http://schemas.openxmlformats.org/drawingml/2006/main">
              <a:ext uri="{FF2B5EF4-FFF2-40B4-BE49-F238E27FC236}">
                <a16:creationId xmlns:a16="http://schemas.microsoft.com/office/drawing/2014/main" id="{C54E41DB-1E38-4605-8AC5-3E40538CB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916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步骤由业务状态机预定义；当前不声称开放式规划、模型自主选工具或多 Agent 协作。</a:t>
            </a:r>
            <a:endParaRPr sz="1050"/>
          </a:p>
        </p:txBody>
      </p:sp>
    </p:spTree>
    <p:extLst>
      <p:ext uri="{BB962C8B-B14F-4D97-AF65-F5344CB8AC3E}">
        <p14:creationId xmlns:p14="http://schemas.microsoft.com/office/powerpoint/2010/main" val="6307976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AEF2BA8-BE59-4FF9-925B-66BE1108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工具 / 数据 / 模型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C54A24B-4F4C-4654-9375-EFFC19CF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数据来源清晰，工具与模型可替代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C6C7393-3E00-4AAC-B757-03F5B9D60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2651760" cy="324612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4E40B653-6D44-44A5-91B7-B62DD0F11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898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6"/>
          </a:solidFill>
        </p:spPr>
      </p:sp>
      <p:pic>
        <p:nvPicPr>
          <p:cNvPr id="27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b6540d98cc42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8096" y="149961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B0B13523-A696-4AD3-AFDE-34F6B0B9A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142646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数据来源</a:t>
            </a:r>
            <a:endParaRPr sz="145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CFAF008D-00AB-4A9B-AF2A-17CA54F63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11680"/>
            <a:ext cx="228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企业自有授权简历库（CSV/JSON，入库前加密）</a:t>
            </a:r>
            <a:endParaRPr sz="10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候选人授权：记录范围与时间，撤回触发最强清理</a:t>
            </a:r>
            <a:endParaRPr sz="10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正式 ATS：合同与权限确认后，写回仅允许精确白名单</a:t>
            </a:r>
            <a:endParaRPr sz="10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71EB155A-8296-4395-BB44-D545988B6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188720"/>
            <a:ext cx="2651760" cy="324612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743ABDAB-CB84-4CF2-B021-DB83E489E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13898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6"/>
          </a:solidFill>
        </p:spPr>
      </p:sp>
      <p:pic>
        <p:nvPicPr>
          <p:cNvPr id="32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fc8588c03b41f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02736" y="149961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A580C4B2-DA88-4FE7-8504-97C11A6A4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42646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知识与工具</a:t>
            </a:r>
            <a:endParaRPr sz="145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64B02C81-8259-471A-B8AD-87EE028D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3008" y="2011680"/>
            <a:ext cx="228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本地 Markdown 知识库分块检索（技能图谱与话术模板），无外部检索服务</a:t>
            </a:r>
            <a:endParaRPr sz="10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批量匹配 / 简历批处理 / ATS 写回 Worker</a:t>
            </a:r>
            <a:endParaRPr sz="10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钉钉 MCP 可选写回，默认关闭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D71B48D6-E5C6-4C28-ABF8-77B2EE79F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88720"/>
            <a:ext cx="2651760" cy="3246120"/>
          </a:xfrm>
          <a:prstGeom xmlns:a="http://schemas.openxmlformats.org/drawingml/2006/main" prst="roundRect">
            <a:avLst>
              <a:gd name="adj" fmla="val 2759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7A9CA5D3-AFFA-4076-AE3C-41AB982F7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389888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EF1F6"/>
          </a:solidFill>
        </p:spPr>
      </p:sp>
      <p:pic>
        <p:nvPicPr>
          <p:cNvPr id="37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33d3e4c66a45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437376" y="1499616"/>
            <a:ext cx="237744" cy="237744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9C66B777-06E5-49B8-BFA9-E026B636C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0" y="1426464"/>
            <a:ext cx="1737360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5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模型使用</a:t>
            </a:r>
            <a:endParaRPr sz="145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278B3B92-9519-4E06-960F-B5A959C42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2011680"/>
            <a:ext cx="2286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默认阿里云百炼 qwen-plus（OpenAI 兼容端点），任意兼容端点可切换</a:t>
            </a:r>
            <a:endParaRPr sz="10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rules_only 档完全不调用模型</a:t>
            </a:r>
            <a:endParaRPr sz="1050"/>
          </a:p>
          <a:p xmlns:a="http://schemas.openxmlformats.org/drawingml/2006/main">
            <a:pPr marL="342900" indent="-342900">
              <a:spcAft>
                <a:spcPts val="900"/>
              </a:spcAft>
              <a:buSzPct val="100000"/>
              <a:buChar char="•"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多模态：扫描版 PDF 视觉结构化（qwen-vl-max，默认关闭、授权后启用）</a:t>
            </a:r>
            <a:endParaRPr sz="1050"/>
          </a:p>
        </p:txBody>
      </p:sp>
      <p:sp>
        <p:nvSpPr>
          <p:cNvPr id="19" name="Text 14">
            <a:extLst xmlns:a="http://schemas.openxmlformats.org/drawingml/2006/main">
              <a:ext uri="{FF2B5EF4-FFF2-40B4-BE49-F238E27FC236}">
                <a16:creationId xmlns:a16="http://schemas.microsoft.com/office/drawing/2014/main" id="{6EE7DD0B-242B-46D2-9C50-30DF0B47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直接依赖、外部服务、许可证风险与参赛排除项见《第三方依赖与发布边界》。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277318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169B300E-B72B-48FD-8AAC-F37EC7DAE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差异化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D9A2695-F408-4D38-A91B-8FC26639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把 AI 关进制度的笼子：三档执行边界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AB44FE81-2E91-4EA6-B8B1-6DB7C9DB2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5880"/>
            <a:ext cx="265176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F3057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92EA23B2-62B5-469D-92BE-A98A7A907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481328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rules_only</a:t>
            </a:r>
            <a:endParaRPr sz="14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342E45CB-BCEF-42C9-98FF-475CB5E8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01952"/>
            <a:ext cx="7772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77F00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964176E5-2FA8-4665-A67B-1E56CC644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1901952"/>
            <a:ext cx="777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默认档</a:t>
            </a:r>
            <a:endParaRPr sz="105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61871F18-A684-485B-914B-A7FCA00D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" y="2331720"/>
            <a:ext cx="23317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不调用任何模型或知识服务，全部能力由规则引擎承载。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0F1A92D-384D-4F21-BBA6-8A1839ACC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25880"/>
            <a:ext cx="265176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F3057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D5CE2936-BEDF-4CD9-84A7-B0568D67A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481328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private_endpoint</a:t>
            </a:r>
            <a:endParaRPr sz="1400"/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B0581B07-BD06-42D3-93EE-F418AF7D1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01952"/>
            <a:ext cx="7772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13D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FAC54E06-E992-4931-8CEE-AB4379F52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1901952"/>
            <a:ext cx="777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企业档</a:t>
            </a:r>
            <a:endParaRPr sz="1050"/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EC8DB26-B778-487F-A83B-F7D121FB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6432" y="2331720"/>
            <a:ext cx="23317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企业私有 OpenAI 兼容端点，数据不出部署域。</a:t>
            </a:r>
            <a:endParaRPr sz="1050"/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79E71DDB-0ED8-41D6-8A6D-8D51B354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25880"/>
            <a:ext cx="2651760" cy="1965960"/>
          </a:xfrm>
          <a:prstGeom xmlns:a="http://schemas.openxmlformats.org/drawingml/2006/main" prst="roundRect">
            <a:avLst>
              <a:gd name="adj" fmla="val 3721"/>
            </a:avLst>
          </a:prstGeom>
          <a:solidFill xmlns:a="http://schemas.openxmlformats.org/drawingml/2006/main">
            <a:srgbClr val="1F3057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7F54C43-FA8C-4B1A-987E-137C736F6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1481328"/>
            <a:ext cx="2331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approved_cloud</a:t>
            </a:r>
            <a:endParaRPr sz="1400"/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5A1ECD18-F743-4881-B704-36A2A5686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1901952"/>
            <a:ext cx="777240" cy="31089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4213D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8AFB835-14F7-4695-84BD-86D690EB5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1901952"/>
            <a:ext cx="777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批准档</a:t>
            </a:r>
            <a:endParaRPr sz="1050"/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734680A0-3958-4C15-BC2E-DA9C9691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1072" y="2331720"/>
            <a:ext cx="2331720" cy="8686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经批准的外部端点，仅发送去标识化载荷（无姓名/联系方式/公司/原始简历）。</a:t>
            </a:r>
            <a:endParaRPr sz="1050"/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ADF9CD91-0CAB-42E5-B7D7-44C7939C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1880"/>
            <a:ext cx="8229600" cy="10058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部署模式只是能力上限：每个租户还须管理员在“数据源”页逐项批准，未批准自动降级为 rules_only。</a:t>
            </a:r>
            <a:endParaRPr sz="125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25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这不是配置项，而是产品主轴——评委可在 Demo 中亲眼看到审批与降级镜头。</a:t>
            </a:r>
            <a:endParaRPr sz="1250"/>
          </a:p>
        </p:txBody>
      </p:sp>
    </p:spTree>
    <p:extLst>
      <p:ext uri="{BB962C8B-B14F-4D97-AF65-F5344CB8AC3E}">
        <p14:creationId xmlns:p14="http://schemas.microsoft.com/office/powerpoint/2010/main" val="48440259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B9A6704E-FB5F-4EEC-8C25-375424167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安全 · 合规 · 可追溯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741A3A11-BC10-4924-8BAB-610EB29BC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数据合规与行业边界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812A06D-58A1-4514-9BCB-6E22F1F44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4023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CCB58E96-B5A4-45C5-9016-5C80A1052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4475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2"/>
          </a:solidFill>
        </p:spPr>
      </p:sp>
      <p:pic>
        <p:nvPicPr>
          <p:cNvPr id="33" name="Image 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8f22bfb72140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1563624"/>
            <a:ext cx="265176" cy="265176"/>
          </a:xfrm>
          <a:prstGeom xmlns:a="http://schemas.openxmlformats.org/drawingml/2006/main" prst="rect">
            <a:avLst/>
          </a:prstGeom>
        </p:spPr>
      </p:pic>
      <p:sp>
        <p:nvSpPr>
          <p:cNvPr id="7" name="Text 4">
            <a:extLst xmlns:a="http://schemas.openxmlformats.org/drawingml/2006/main">
              <a:ext uri="{FF2B5EF4-FFF2-40B4-BE49-F238E27FC236}">
                <a16:creationId xmlns:a16="http://schemas.microsoft.com/office/drawing/2014/main" id="{641E8DA2-2019-45E8-8E8D-1AF8543AC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408176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存储加密</a:t>
            </a:r>
            <a:endParaRPr sz="1400"/>
          </a:p>
        </p:txBody>
      </p:sp>
      <p:sp>
        <p:nvSpPr>
          <p:cNvPr id="8" name="Text 5">
            <a:extLst xmlns:a="http://schemas.openxmlformats.org/drawingml/2006/main">
              <a:ext uri="{FF2B5EF4-FFF2-40B4-BE49-F238E27FC236}">
                <a16:creationId xmlns:a16="http://schemas.microsoft.com/office/drawing/2014/main" id="{78BBB7B4-01B5-4FC8-8E3D-B024008A8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1792224"/>
            <a:ext cx="29260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姓名/邮箱/电话/公司/职位 AES-256-GCM 加密，HMAC 索引精确查询不暴露明文。</a:t>
            </a:r>
            <a:endParaRPr sz="1050"/>
          </a:p>
        </p:txBody>
      </p:sp>
      <p:sp>
        <p:nvSpPr>
          <p:cNvPr id="9" name="Shape 6">
            <a:extLst xmlns:a="http://schemas.openxmlformats.org/drawingml/2006/main">
              <a:ext uri="{FF2B5EF4-FFF2-40B4-BE49-F238E27FC236}">
                <a16:creationId xmlns:a16="http://schemas.microsoft.com/office/drawing/2014/main" id="{BFB2F8DB-D048-47D0-BF0F-6740E5A6A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1188720"/>
            <a:ext cx="4023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0" name="Shape 7">
            <a:extLst xmlns:a="http://schemas.openxmlformats.org/drawingml/2006/main">
              <a:ext uri="{FF2B5EF4-FFF2-40B4-BE49-F238E27FC236}">
                <a16:creationId xmlns:a16="http://schemas.microsoft.com/office/drawing/2014/main" id="{61E8EA2D-EE91-4140-9393-1D72C7620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144475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2"/>
          </a:solidFill>
        </p:spPr>
      </p:sp>
      <p:pic>
        <p:nvPicPr>
          <p:cNvPr id="38" name="Imag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c987d3d48f469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912" y="1563624"/>
            <a:ext cx="265176" cy="265176"/>
          </a:xfrm>
          <a:prstGeom xmlns:a="http://schemas.openxmlformats.org/drawingml/2006/main" prst="rect">
            <a:avLst/>
          </a:prstGeom>
        </p:spPr>
      </p:pic>
      <p:sp>
        <p:nvSpPr>
          <p:cNvPr id="12" name="Text 8">
            <a:extLst xmlns:a="http://schemas.openxmlformats.org/drawingml/2006/main">
              <a:ext uri="{FF2B5EF4-FFF2-40B4-BE49-F238E27FC236}">
                <a16:creationId xmlns:a16="http://schemas.microsoft.com/office/drawing/2014/main" id="{977AFDC4-0B39-48B4-9F20-AE5B86C5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408176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候选人权利</a:t>
            </a:r>
            <a:endParaRPr sz="1400"/>
          </a:p>
        </p:txBody>
      </p:sp>
      <p:sp>
        <p:nvSpPr>
          <p:cNvPr id="13" name="Text 9">
            <a:extLst xmlns:a="http://schemas.openxmlformats.org/drawingml/2006/main">
              <a:ext uri="{FF2B5EF4-FFF2-40B4-BE49-F238E27FC236}">
                <a16:creationId xmlns:a16="http://schemas.microsoft.com/office/drawing/2014/main" id="{1F09C2BF-7D18-45D3-80DA-739DCB27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1792224"/>
            <a:ext cx="29260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知情授权、可拒绝自动化匹配、可撤回（最强清理 + 回执）、权利请求处理 API。</a:t>
            </a:r>
            <a:endParaRPr sz="1050"/>
          </a:p>
        </p:txBody>
      </p:sp>
      <p:sp>
        <p:nvSpPr>
          <p:cNvPr id="14" name="Shape 10">
            <a:extLst xmlns:a="http://schemas.openxmlformats.org/drawingml/2006/main">
              <a:ext uri="{FF2B5EF4-FFF2-40B4-BE49-F238E27FC236}">
                <a16:creationId xmlns:a16="http://schemas.microsoft.com/office/drawing/2014/main" id="{82C669B6-0195-487E-9B21-87E9214E9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88920"/>
            <a:ext cx="4023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5" name="Shape 11">
            <a:extLst xmlns:a="http://schemas.openxmlformats.org/drawingml/2006/main">
              <a:ext uri="{FF2B5EF4-FFF2-40B4-BE49-F238E27FC236}">
                <a16:creationId xmlns:a16="http://schemas.microsoft.com/office/drawing/2014/main" id="{E7F882AA-3CD6-416D-A83B-D53C023E5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495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2"/>
          </a:solidFill>
        </p:spPr>
      </p:sp>
      <p:pic>
        <p:nvPicPr>
          <p:cNvPr id="43" name="Imag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beaaf6ae1f4f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4672" y="3163824"/>
            <a:ext cx="265176" cy="265176"/>
          </a:xfrm>
          <a:prstGeom xmlns:a="http://schemas.openxmlformats.org/drawingml/2006/main" prst="rect">
            <a:avLst/>
          </a:prstGeom>
        </p:spPr>
      </p:pic>
      <p:sp>
        <p:nvSpPr>
          <p:cNvPr id="17" name="Text 12">
            <a:extLst xmlns:a="http://schemas.openxmlformats.org/drawingml/2006/main">
              <a:ext uri="{FF2B5EF4-FFF2-40B4-BE49-F238E27FC236}">
                <a16:creationId xmlns:a16="http://schemas.microsoft.com/office/drawing/2014/main" id="{1B38C516-7C26-4454-B023-0B9D36090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008376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不替代 HR 决策</a:t>
            </a:r>
            <a:endParaRPr sz="1400"/>
          </a:p>
        </p:txBody>
      </p:sp>
      <p:sp>
        <p:nvSpPr>
          <p:cNvPr id="18" name="Text 13">
            <a:extLst xmlns:a="http://schemas.openxmlformats.org/drawingml/2006/main">
              <a:ext uri="{FF2B5EF4-FFF2-40B4-BE49-F238E27FC236}">
                <a16:creationId xmlns:a16="http://schemas.microsoft.com/office/drawing/2014/main" id="{28FCE768-4558-4F67-99FF-35A27DB61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392424"/>
            <a:ext cx="29260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AI 只提供排序与证据；拒绝、Offer 和录用由 HR 决定并留痕；不做跨企业聚合。</a:t>
            </a:r>
            <a:endParaRPr sz="1050"/>
          </a:p>
        </p:txBody>
      </p:sp>
      <p:sp>
        <p:nvSpPr>
          <p:cNvPr id="19" name="Shape 14">
            <a:extLst xmlns:a="http://schemas.openxmlformats.org/drawingml/2006/main">
              <a:ext uri="{FF2B5EF4-FFF2-40B4-BE49-F238E27FC236}">
                <a16:creationId xmlns:a16="http://schemas.microsoft.com/office/drawing/2014/main" id="{489DD40D-59A3-4F62-8233-C049DADC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3440" y="2788920"/>
            <a:ext cx="4023360" cy="1417320"/>
          </a:xfrm>
          <a:prstGeom xmlns:a="http://schemas.openxmlformats.org/drawingml/2006/main" prst="roundRect">
            <a:avLst>
              <a:gd name="adj" fmla="val 5161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20" name="Shape 15">
            <a:extLst xmlns:a="http://schemas.openxmlformats.org/drawingml/2006/main">
              <a:ext uri="{FF2B5EF4-FFF2-40B4-BE49-F238E27FC236}">
                <a16:creationId xmlns:a16="http://schemas.microsoft.com/office/drawing/2014/main" id="{BA35C014-4A0E-4E39-BAD4-917BAA441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2040" y="3044952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1E2"/>
          </a:solidFill>
        </p:spPr>
      </p:sp>
      <p:pic>
        <p:nvPicPr>
          <p:cNvPr id="48" name="Imag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da6c568fa846c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10912" y="3163824"/>
            <a:ext cx="265176" cy="265176"/>
          </a:xfrm>
          <a:prstGeom xmlns:a="http://schemas.openxmlformats.org/drawingml/2006/main" prst="rect">
            <a:avLst/>
          </a:prstGeom>
        </p:spPr>
      </p:pic>
      <p:sp>
        <p:nvSpPr>
          <p:cNvPr id="22" name="Text 16">
            <a:extLst xmlns:a="http://schemas.openxmlformats.org/drawingml/2006/main">
              <a:ext uri="{FF2B5EF4-FFF2-40B4-BE49-F238E27FC236}">
                <a16:creationId xmlns:a16="http://schemas.microsoft.com/office/drawing/2014/main" id="{B8A23ADD-0FFE-49FC-B76E-78F185BDA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008376"/>
            <a:ext cx="29260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出站治理</a:t>
            </a:r>
            <a:endParaRPr sz="1400"/>
          </a:p>
        </p:txBody>
      </p:sp>
      <p:sp>
        <p:nvSpPr>
          <p:cNvPr id="23" name="Text 17">
            <a:extLst xmlns:a="http://schemas.openxmlformats.org/drawingml/2006/main">
              <a:ext uri="{FF2B5EF4-FFF2-40B4-BE49-F238E27FC236}">
                <a16:creationId xmlns:a16="http://schemas.microsoft.com/office/drawing/2014/main" id="{8A8B9C63-F9A3-4E3E-82C4-136F1374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7840" y="3392424"/>
            <a:ext cx="2926080" cy="7132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ATS 写回主机精确白名单，为空全拒；PyMuPDF 等许可选择仍是发布门禁。</a:t>
            </a:r>
            <a:endParaRPr sz="1050"/>
          </a:p>
        </p:txBody>
      </p:sp>
      <p:sp>
        <p:nvSpPr>
          <p:cNvPr id="24" name="Text 18">
            <a:extLst xmlns:a="http://schemas.openxmlformats.org/drawingml/2006/main">
              <a:ext uri="{FF2B5EF4-FFF2-40B4-BE49-F238E27FC236}">
                <a16:creationId xmlns:a16="http://schemas.microsoft.com/office/drawing/2014/main" id="{03B0BC8B-83A0-41E6-9D2C-2A10BF73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全文见仓库 docs/数据合规与隐私白皮书.md。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0651460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853C16C-10A6-44DF-8915-FDF7D23FC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效果验证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01EC39C-7C37-42EC-9D6E-87F6A1DB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可验证价值：IT 基线 + 制造业评测 + 工程证据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216C0F04-40B1-4B3B-B3DB-CA07D628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26517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EBF551A2-17EE-4738-8006-62BEE499B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25880"/>
            <a:ext cx="2651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0.706</a:t>
            </a:r>
            <a:endParaRPr sz="32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C3373BBF-35EE-4C91-8D9B-3838ED5B5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6596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IT 单岗位 Spearman</a:t>
            </a:r>
            <a:endParaRPr sz="13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61FC2EBB-EAA2-4E2A-9B3B-A5E8E597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23042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规则评分 vs 1 位 IT 招聘方三档基准（20 份授权去标识简历）</a:t>
            </a:r>
            <a:endParaRPr sz="1000"/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A5DA3DCB-36CE-4065-A8CA-8411811AF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188720"/>
            <a:ext cx="26517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A447B1AC-044A-4E20-8053-E10526072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325880"/>
            <a:ext cx="2651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4/4</a:t>
            </a:r>
            <a:endParaRPr sz="3200"/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A893452E-C9EA-40B3-8A83-052C54144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1840" y="196596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强推召回 @10</a:t>
            </a:r>
            <a:endParaRPr sz="13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44FF54C-5D67-470B-B70C-AC32E751C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4720" y="23042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本样本前 10 覆盖 4 位强推；前 5 覆盖 2 位</a:t>
            </a:r>
            <a:endParaRPr sz="1000"/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7862309E-A715-4A4C-8E7E-BE7A89CA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188720"/>
            <a:ext cx="2651760" cy="1874520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5C42DEE6-E2B9-4A5F-8780-2E8E34B1A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325880"/>
            <a:ext cx="265176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20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CI</a:t>
            </a:r>
            <a:endParaRPr sz="3200"/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CC08541E-42F7-4A99-878D-8638C155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965960"/>
            <a:ext cx="265176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质量门禁</a:t>
            </a:r>
            <a:endParaRPr sz="13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19496AAA-9FDD-4D97-A745-F5DFFBA3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9360" y="2304288"/>
            <a:ext cx="2286000" cy="685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0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类型检查、单元测试、数据库集成与 Worker 测试</a:t>
            </a:r>
            <a:endParaRPr sz="10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8C2FCF6D-73DC-484C-9A50-2B37F613E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1840"/>
            <a:ext cx="8229600" cy="1463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一键复现：pnpm eval:match scripts/match-benchmark.java-real.json。</a:t>
            </a:r>
            <a:endParaRPr sz="11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证据边界：1 个 Java 岗、20 份简历、1 位标注者；不外推为制造业效果。</a:t>
            </a:r>
            <a:endParaRPr sz="1150"/>
          </a:p>
          <a:p xmlns:a="http://schemas.openxmlformats.org/drawingml/2006/main"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1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制造业评测（8/13）：58 份真实简历一致率 34.5%、κ=0.280，39 份待第三方复核；定位“提供证据、人工决策”，不做无人监督自动排序/淘汰。</a:t>
            </a:r>
            <a:endParaRPr sz="115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1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看板诚实：零分母显示“待积累”，不使用模型分冒充业务结果。</a:t>
            </a:r>
            <a:endParaRPr sz="1150"/>
          </a:p>
        </p:txBody>
      </p:sp>
    </p:spTree>
    <p:extLst>
      <p:ext uri="{BB962C8B-B14F-4D97-AF65-F5344CB8AC3E}">
        <p14:creationId xmlns:p14="http://schemas.microsoft.com/office/powerpoint/2010/main" val="89678473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5D462DF8-950E-4B62-A3E1-7226749F2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开放 / 复用贡献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B66FB19A-D10C-4A0A-8D78-DD492D0B5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开源、可复制、工程化交付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A370CBC-6449-4BD0-89A8-58414E196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88720"/>
            <a:ext cx="406908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FFFFF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D62F642-BEA0-438B-BB90-4748D1306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17320"/>
            <a:ext cx="3611880" cy="2743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0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Apache-2.0 开源，无平台绑定：Next.js + Supabase，官方云或自托管均可。</a:t>
            </a:r>
            <a:endParaRPr sz="12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0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一键部署：docker compose up --build；迁移、管理员初始化与 seed 分步执行。</a:t>
            </a:r>
            <a:endParaRPr sz="120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20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质量门禁：TypeScript strict、单元测试、数据库集成、Worker 测试与 CI。</a:t>
            </a:r>
            <a:endParaRPr sz="120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20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知识库可插拔；换行业仍需重新评测，不能直接继承效果数字。</a:t>
            </a:r>
            <a:endParaRPr sz="1200"/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DFC53513-300D-4BC1-A2A0-556106FB5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1188720"/>
            <a:ext cx="3977640" cy="320040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14213D"/>
          </a:solidFill>
          <a:effectLst xmlns:a="http://schemas.openxmlformats.org/drawingml/2006/main">
            <a:outerShdw blurRad="76200" dist="25400" dir="5400000" algn="bl" rotWithShape="0">
              <a:srgbClr val="14213D">
                <a:alpha val="12000"/>
              </a:srgbClr>
            </a:outerShdw>
          </a:effectLst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2B7943D3-B88C-49B1-83BC-D046106B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417320"/>
            <a:ext cx="347472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项目来源披露</a:t>
            </a:r>
            <a:endParaRPr sz="15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5193518-966F-4945-8429-5BD117AB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7760" y="1874520"/>
            <a:ext cx="3520440" cy="2286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15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前身为团队 2025 年火山杯参赛原型（Coze 起步）。</a:t>
            </a:r>
            <a:endParaRPr sz="1150"/>
          </a:p>
          <a:p xmlns:a="http://schemas.openxmlformats.org/drawingml/2006/main"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sz="115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当前仓库为完全重构：去平台 SDK、自托管架构，新增执行边界、决策留痕与复盘校准。</a:t>
            </a:r>
            <a:endParaRPr sz="1150"/>
          </a:p>
          <a:p xmlns:a="http://schemas.openxmlformats.org/drawingml/2006/main">
            <a:pPr marL="342900" indent="-342900">
              <a:buSzPct val="100000"/>
              <a:buChar char="•"/>
            </a:pPr>
            <a:r>
              <a:rPr sz="115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项目代码以 Apache-2.0 发布；第三方依赖仍按锁文件逐项审计，强 copyleft / 商业双许可作为门禁。</a:t>
            </a:r>
            <a:endParaRPr sz="1150"/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F3D50AE6-0D82-452A-A885-DBC885154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7720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0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README 披露项目来源；《第三方依赖与发布边界》记录服务、许可证与参赛排除项。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550396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5EE6408-79A1-4C9E-B445-020A6225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864"/>
            <a:ext cx="822960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F77F00"/>
                </a:solidFill>
                <a:latin typeface="Microsoft YaHei"/>
                <a:ea typeface="Microsoft YaHei"/>
                <a:cs typeface="Microsoft YaHei"/>
              </a:rPr>
              <a:t>后续落地计划</a:t>
            </a:r>
            <a:endParaRPr sz="105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A87AF90-3579-4D95-8500-EE92AE3F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2608"/>
            <a:ext cx="822960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7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路线图：从初赛到真实试用</a:t>
            </a:r>
            <a:endParaRPr sz="27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6D3FEF4-DFCB-4A9D-9757-9DAED730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2148840"/>
            <a:ext cx="6583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CADCFC"/>
            </a:solidFill>
            <a:prstDash val="solid"/>
          </a:ln>
        </p:spPr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83982D34-4A19-49AA-9C1A-B19459719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7F00"/>
          </a:solidFill>
        </p:spPr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2CB56AA3-5957-463E-B742-B2B95C9A8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9202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  <a:endParaRPr sz="1500"/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A8C8AEBE-3AC4-4813-9964-64942441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1460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初赛 8/16</a:t>
            </a:r>
            <a:endParaRPr sz="1400"/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3CB54182-5296-42CB-874B-B38F742A9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2926080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开源仓库 + 方案 PPT/PDF + IT 基线 + 制造业评测审计 + 运行证据包；Demo 视频待录制。</a:t>
            </a:r>
            <a:endParaRPr sz="1050"/>
          </a:p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F5D97A5A-F32F-4E34-9127-A431DC2BB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7F00"/>
          </a:solidFill>
        </p:spPr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92C4138-D964-4021-878D-C960E3443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19202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  <a:endParaRPr sz="1500"/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B00243E-DCA8-487B-903E-D640398B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251460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复赛 9/3</a:t>
            </a:r>
            <a:endParaRPr sz="1400"/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96337563-1544-426B-A72F-79F604A5C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2926080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制造业评测已完成（一致率 34.5%、κ=0.280）；39 份分歧第三方复核，优化排序与证据后复测。</a:t>
            </a:r>
            <a:endParaRPr sz="1050"/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420F3CF6-A7C3-41C6-8ECD-BBCC26C3A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92024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7F00"/>
          </a:solidFill>
        </p:spPr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CE1DD0A-AD7C-465B-9C6F-50E1584B5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9480" y="192024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  <a:endParaRPr sz="1500"/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E6D95132-A20F-4E6D-BBA6-82786E427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2514600"/>
            <a:ext cx="201168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 b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决赛 9/22</a:t>
            </a:r>
            <a:endParaRPr sz="1400"/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3D4B6457-1C4A-4EF7-BFAD-036D0F41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2926080"/>
            <a:ext cx="2194560" cy="1371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050">
                <a:solidFill>
                  <a:srgbClr val="5A6472"/>
                </a:solidFill>
                <a:latin typeface="Microsoft YaHei"/>
                <a:ea typeface="Microsoft YaHei"/>
                <a:cs typeface="Microsoft YaHei"/>
              </a:rPr>
              <a:t>1-2 家真实 HR 团队试用；用实测数据验证周期、覆盖与校准，不提前承诺收益。</a:t>
            </a:r>
            <a:endParaRPr sz="1050"/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F7124EBE-9F29-424C-B88F-82D88CF9F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6280"/>
            <a:ext cx="82296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00" i="1">
                <a:solidFill>
                  <a:srgbClr val="14213D"/>
                </a:solidFill>
                <a:latin typeface="Microsoft YaHei"/>
                <a:ea typeface="Microsoft YaHei"/>
                <a:cs typeface="Microsoft YaHei"/>
              </a:rPr>
              <a:t>长期：招聘决策的“可解释、可留痕、可校准”基础设施，可复制至任一人力密集行业。</a:t>
            </a:r>
            <a:endParaRPr sz="1200"/>
          </a:p>
        </p:txBody>
      </p:sp>
    </p:spTree>
    <p:extLst>
      <p:ext uri="{BB962C8B-B14F-4D97-AF65-F5344CB8AC3E}">
        <p14:creationId xmlns:p14="http://schemas.microsoft.com/office/powerpoint/2010/main" val="14400899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14213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FA741398-DE58-424E-B54A-CC83C9D73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371600"/>
            <a:ext cx="7680960" cy="8229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负责证据与排序，人类保留决策权。</a:t>
            </a:r>
            <a:endParaRPr sz="3000"/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41FAA49D-79ED-4886-AC6F-B7FCF280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86000"/>
            <a:ext cx="731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40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请评审验证“可运行、边界诚实、证据可复现”——Demo 视频以实际提交链接为准。</a:t>
            </a:r>
            <a:endParaRPr sz="1400"/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164DF8F-BDD2-48CF-8F41-BA5893F0D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00400"/>
            <a:ext cx="6217920" cy="96012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F3057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8CC9E4DC-AD02-4A8C-B571-4D9E2CDC9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200400"/>
            <a:ext cx="6217920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>
                <a:solidFill>
                  <a:srgbClr val="F77F00"/>
                </a:solidFill>
                <a:latin typeface="Courier New"/>
                <a:ea typeface="Courier New"/>
                <a:cs typeface="Courier New"/>
              </a:rPr>
              <a:t>pnpm install &amp;&amp; pnpm db:migrate &amp;&amp; pnpm admin:bootstrap
pnpm seed:demo &amp;&amp; pnpm dev</a:t>
            </a:r>
            <a:endParaRPr sz="1300"/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DDCD8735-D9CE-4D21-B344-3377D3BB9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703320"/>
            <a:ext cx="621792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100">
                <a:solidFill>
                  <a:srgbClr val="CADCFC"/>
                </a:solidFill>
                <a:latin typeface="Microsoft YaHei"/>
                <a:ea typeface="Microsoft YaHei"/>
                <a:cs typeface="Microsoft YaHei"/>
              </a:rPr>
              <a:t>github.com/xyljobs/recruit-agent · Apache-2.0</a:t>
            </a:r>
            <a:endParaRPr sz="1100"/>
          </a:p>
        </p:txBody>
      </p:sp>
    </p:spTree>
    <p:extLst>
      <p:ext uri="{BB962C8B-B14F-4D97-AF65-F5344CB8AC3E}">
        <p14:creationId xmlns:p14="http://schemas.microsoft.com/office/powerpoint/2010/main" val="125068406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2026-08-09T10:43:38.3210000Z</dcterms:created>
  <dcterms:modified xsi:type="dcterms:W3CDTF">2026-08-09T10:43:38.3210000Z</dcterms:modified>
</coreProperties>
</file>